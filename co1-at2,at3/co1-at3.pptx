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4623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240000">
            <a:off x="-914400" y="4846320"/>
            <a:ext cx="13990320" cy="2194560"/>
          </a:xfrm>
          <a:prstGeom prst="rect">
            <a:avLst/>
          </a:prstGeom>
          <a:solidFill>
            <a:srgbClr val="132B4D"/>
          </a:solidFill>
          <a:ln/>
        </p:spPr>
      </p:sp>
      <p:pic>
        <p:nvPicPr>
          <p:cNvPr id="3" name="Image 0" descr="icons/car_00B4D8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8961120" y="640080"/>
            <a:ext cx="2834640" cy="2834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78308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Car Perception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22960" y="2788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Pipeline  •  Camera Calibration  •  Depth Estimation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22960" y="3931920"/>
            <a:ext cx="5852160" cy="1737360"/>
          </a:xfrm>
          <a:prstGeom prst="roundRect">
            <a:avLst>
              <a:gd name="adj" fmla="val 4211"/>
            </a:avLst>
          </a:prstGeom>
          <a:solidFill>
            <a:srgbClr val="132B4D"/>
          </a:solidFill>
          <a:ln w="12700">
            <a:solidFill>
              <a:srgbClr val="2240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" y="409651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697480" y="405079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Kamali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97280" y="459943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697480" y="455371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192524423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97280" y="510235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697480" y="505663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Mayuranathan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Self-Driving Car “Sees” the World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600200"/>
            <a:ext cx="6309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car must continuously understand its surroundings — roads, pedestrians, vehicles, and traffic signs — to drive safely.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understanding is built by three core computer-vision building blocks working together.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Pipeline: the sequence of steps that turns raw camera frames into meaningful detections.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Calibration: the process that ensures every image is geometrically accurate before analysis.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Estimation: the technique that tells the car how far away each object is.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0" y="1554480"/>
            <a:ext cx="42976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9BAAC4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43800" y="1760220"/>
            <a:ext cx="822960" cy="82296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7" name="Image 0" descr="icons/ey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0785" y="1867205"/>
            <a:ext cx="608990" cy="6089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49640" y="1645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Pipeline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549640" y="21214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3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315200" y="3017520"/>
            <a:ext cx="42976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9BAAC4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543800" y="3223260"/>
            <a:ext cx="822960" cy="82296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2" name="Image 1" descr="icons/gri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0785" y="3330245"/>
            <a:ext cx="608990" cy="6089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549640" y="3108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Camera Calibration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8549640" y="358444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 3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315200" y="4480560"/>
            <a:ext cx="42976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9BAAC4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543800" y="4686300"/>
            <a:ext cx="822960" cy="82296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7" name="Image 2" descr="icons/rule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0785" y="4793285"/>
            <a:ext cx="608990" cy="60899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49640" y="4572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Depth Estimation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549640" y="504748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of 3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CAR PERCEPTION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VISION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Pixels to Real-World Understanding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5" name="Image 0" descr="icons/ey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70" y="1683410"/>
            <a:ext cx="473659" cy="4736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536192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r>
              <a:rPr lang="en-US" sz="14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 pipeline is the ordered sequence of image-processing and AI steps that convert raw camera video into detected roads, pedestrians, and signs.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651760"/>
            <a:ext cx="1956816" cy="1417320"/>
          </a:xfrm>
          <a:prstGeom prst="roundRect">
            <a:avLst>
              <a:gd name="adj" fmla="val 5161"/>
            </a:avLst>
          </a:prstGeom>
          <a:solidFill>
            <a:srgbClr val="0B1F3A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7249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21792" y="3108960"/>
            <a:ext cx="18105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2505456" y="317754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6B35"/>
                </a:solidFill>
              </a:rPr>
              <a:t>▶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761488" y="2651760"/>
            <a:ext cx="1956816" cy="1417320"/>
          </a:xfrm>
          <a:prstGeom prst="roundRect">
            <a:avLst>
              <a:gd name="adj" fmla="val 5161"/>
            </a:avLst>
          </a:prstGeom>
          <a:solidFill>
            <a:srgbClr val="132B4D"/>
          </a:solidFill>
          <a:ln/>
        </p:spPr>
      </p:sp>
      <p:sp>
        <p:nvSpPr>
          <p:cNvPr id="12" name="Text 9"/>
          <p:cNvSpPr/>
          <p:nvPr/>
        </p:nvSpPr>
        <p:spPr>
          <a:xfrm>
            <a:off x="2852928" y="27249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834640" y="3108960"/>
            <a:ext cx="18105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718304" y="317754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6B35"/>
                </a:solidFill>
              </a:rPr>
              <a:t>▶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974336" y="2651760"/>
            <a:ext cx="1956816" cy="1417320"/>
          </a:xfrm>
          <a:prstGeom prst="roundRect">
            <a:avLst>
              <a:gd name="adj" fmla="val 5161"/>
            </a:avLst>
          </a:prstGeom>
          <a:solidFill>
            <a:srgbClr val="0B1F3A"/>
          </a:solidFill>
          <a:ln/>
        </p:spPr>
      </p:sp>
      <p:sp>
        <p:nvSpPr>
          <p:cNvPr id="16" name="Text 13"/>
          <p:cNvSpPr/>
          <p:nvPr/>
        </p:nvSpPr>
        <p:spPr>
          <a:xfrm>
            <a:off x="5065776" y="27249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47488" y="3108960"/>
            <a:ext cx="18105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931152" y="317754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6B35"/>
                </a:solidFill>
              </a:rPr>
              <a:t>▶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187184" y="2651760"/>
            <a:ext cx="1956816" cy="1417320"/>
          </a:xfrm>
          <a:prstGeom prst="roundRect">
            <a:avLst>
              <a:gd name="adj" fmla="val 5161"/>
            </a:avLst>
          </a:prstGeom>
          <a:solidFill>
            <a:srgbClr val="132B4D"/>
          </a:solidFill>
          <a:ln/>
        </p:spPr>
      </p:sp>
      <p:sp>
        <p:nvSpPr>
          <p:cNvPr id="20" name="Text 17"/>
          <p:cNvSpPr/>
          <p:nvPr/>
        </p:nvSpPr>
        <p:spPr>
          <a:xfrm>
            <a:off x="7278624" y="27249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260336" y="3108960"/>
            <a:ext cx="18105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9144000" y="317754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6B35"/>
                </a:solidFill>
              </a:rPr>
              <a:t>▶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9400032" y="2651760"/>
            <a:ext cx="1956816" cy="1417320"/>
          </a:xfrm>
          <a:prstGeom prst="roundRect">
            <a:avLst>
              <a:gd name="adj" fmla="val 5161"/>
            </a:avLst>
          </a:prstGeom>
          <a:solidFill>
            <a:srgbClr val="0B1F3A"/>
          </a:solidFill>
          <a:ln/>
        </p:spPr>
      </p:sp>
      <p:sp>
        <p:nvSpPr>
          <p:cNvPr id="24" name="Text 21"/>
          <p:cNvSpPr/>
          <p:nvPr/>
        </p:nvSpPr>
        <p:spPr>
          <a:xfrm>
            <a:off x="9491472" y="27249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473184" y="3108960"/>
            <a:ext cx="18105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&amp;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94360" y="4343400"/>
            <a:ext cx="10789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Convolutional Neural Networks (CNNs) such as YOLO or SSD for real-time detection.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segmentation labels every pixel (road, lane, sign, pedestrian) for fine-grained understanding.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at 30+ frames per second so the car can react to fast-changing scenes.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CAR PERCEPTION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CAMERA CALIBRATION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Correcting the Camera's View of the World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297680" cy="4297680"/>
          </a:xfrm>
          <a:prstGeom prst="roundRect">
            <a:avLst>
              <a:gd name="adj" fmla="val 2128"/>
            </a:avLst>
          </a:prstGeom>
          <a:solidFill>
            <a:srgbClr val="0B1F3A"/>
          </a:solidFill>
          <a:ln/>
        </p:spPr>
      </p:sp>
      <p:sp>
        <p:nvSpPr>
          <p:cNvPr id="5" name="Shape 3"/>
          <p:cNvSpPr/>
          <p:nvPr/>
        </p:nvSpPr>
        <p:spPr>
          <a:xfrm>
            <a:off x="2331720" y="1965960"/>
            <a:ext cx="914400" cy="91440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6" name="Image 0" descr="icons/gri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592" y="2084832"/>
            <a:ext cx="676656" cy="6766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0175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Checkerboard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Pattern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37033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images of a known pattern, taken from different angles, let software solve for the camera's internal and external parameters.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166360" y="1655064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0" name="Text 7"/>
          <p:cNvSpPr/>
          <p:nvPr/>
        </p:nvSpPr>
        <p:spPr>
          <a:xfrm>
            <a:off x="5440680" y="1490472"/>
            <a:ext cx="5943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needed:  </a:t>
            </a:r>
            <a:r>
              <a:rPr lang="en-US" sz="13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lens introduces distortion (barrel/pincushion) and no two cameras are mounted identically — calibration corrects both.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166360" y="2734056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2" name="Text 9"/>
          <p:cNvSpPr/>
          <p:nvPr/>
        </p:nvSpPr>
        <p:spPr>
          <a:xfrm>
            <a:off x="5440680" y="2569464"/>
            <a:ext cx="5943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parameters:  </a:t>
            </a:r>
            <a:r>
              <a:rPr lang="en-US" sz="13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length, optical center, and lens distortion coefficients of the camera itself.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166360" y="3813048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4" name="Text 11"/>
          <p:cNvSpPr/>
          <p:nvPr/>
        </p:nvSpPr>
        <p:spPr>
          <a:xfrm>
            <a:off x="5440680" y="3648456"/>
            <a:ext cx="5943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Extrinsic parameters:  </a:t>
            </a:r>
            <a:r>
              <a:rPr lang="en-US" sz="13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camera's exact position and orientation relative to the vehicle body.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166360" y="4892040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3"/>
          <p:cNvSpPr/>
          <p:nvPr/>
        </p:nvSpPr>
        <p:spPr>
          <a:xfrm>
            <a:off x="5440680" y="4727448"/>
            <a:ext cx="5943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r>
              <a:rPr lang="en-US" sz="13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lines stay straight and pixel coordinates map accurately to real-world directions — essential before detection or depth math can be trusted.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CAR PERCEPTION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DEPTH ESTIMATION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Judging “How Far” — Not Just “What”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5" name="Image 0" descr="icons/rul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70" y="1637690"/>
            <a:ext cx="473659" cy="4736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490472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r>
              <a:rPr lang="en-US" sz="14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estimation calculates the distance between the car and every detected object, turning a flat 2D image into a 3D understanding of the scene.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94360" y="2514600"/>
            <a:ext cx="521208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9BAAC4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4360" y="2514600"/>
            <a:ext cx="5212080" cy="502920"/>
          </a:xfrm>
          <a:prstGeom prst="roundRect">
            <a:avLst>
              <a:gd name="adj" fmla="val 16364"/>
            </a:avLst>
          </a:prstGeom>
          <a:solidFill>
            <a:srgbClr val="00B4D8"/>
          </a:solidFill>
          <a:ln/>
        </p:spPr>
      </p:sp>
      <p:sp>
        <p:nvSpPr>
          <p:cNvPr id="9" name="Shape 6"/>
          <p:cNvSpPr/>
          <p:nvPr/>
        </p:nvSpPr>
        <p:spPr>
          <a:xfrm>
            <a:off x="594360" y="2834640"/>
            <a:ext cx="5212080" cy="182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5146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Stereo Vision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50392" y="320040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cameras, known baseline distance apart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from pixel disparity between the pair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to human binocular vision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26480" y="2514600"/>
            <a:ext cx="521208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9BAAC4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26480" y="2514600"/>
            <a:ext cx="5212080" cy="502920"/>
          </a:xfrm>
          <a:prstGeom prst="roundRect">
            <a:avLst>
              <a:gd name="adj" fmla="val 16364"/>
            </a:avLst>
          </a:prstGeom>
          <a:solidFill>
            <a:srgbClr val="FF6B35"/>
          </a:solidFill>
          <a:ln/>
        </p:spPr>
      </p:sp>
      <p:sp>
        <p:nvSpPr>
          <p:cNvPr id="14" name="Shape 11"/>
          <p:cNvSpPr/>
          <p:nvPr/>
        </p:nvSpPr>
        <p:spPr>
          <a:xfrm>
            <a:off x="6126480" y="2834640"/>
            <a:ext cx="5212080" cy="1828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Text 12"/>
          <p:cNvSpPr/>
          <p:nvPr/>
        </p:nvSpPr>
        <p:spPr>
          <a:xfrm>
            <a:off x="6355080" y="25146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LiDAR Fusion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382512" y="320040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pulses measure exact distance directly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with camera data for dense, labeled depth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accurate but higher cost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94360" y="507492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r>
              <a:rPr lang="en-US" sz="14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data drives braking, lane changes, and collision avoidance — without it the car knows what is around it, but not whether it is safe.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CAR PERCEPTION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Pieces Working as One System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3566160"/>
          </a:xfrm>
          <a:prstGeom prst="roundRect">
            <a:avLst>
              <a:gd name="adj" fmla="val 3273"/>
            </a:avLst>
          </a:prstGeom>
          <a:solidFill>
            <a:srgbClr val="132B4D"/>
          </a:solidFill>
          <a:ln w="12700">
            <a:solidFill>
              <a:srgbClr val="2240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48740" y="2194560"/>
            <a:ext cx="914400" cy="91440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6" name="Image 0" descr="icons/grid_0B1F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7612" y="2313432"/>
            <a:ext cx="676656" cy="6766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2918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Calibration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384048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Corrects raw camera images so geometry is accurate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063240" y="33832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6B35"/>
                </a:solidFill>
              </a:rPr>
              <a:t>▶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383280" y="1828800"/>
            <a:ext cx="2514600" cy="3566160"/>
          </a:xfrm>
          <a:prstGeom prst="roundRect">
            <a:avLst>
              <a:gd name="adj" fmla="val 3273"/>
            </a:avLst>
          </a:prstGeom>
          <a:solidFill>
            <a:srgbClr val="132B4D"/>
          </a:solidFill>
          <a:ln w="12700">
            <a:solidFill>
              <a:srgbClr val="2240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83380" y="2194560"/>
            <a:ext cx="914400" cy="91440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2" name="Image 1" descr="icons/eye_0B1F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252" y="2313432"/>
            <a:ext cx="676656" cy="6766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32918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Vision Pipeline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566160" y="384048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roads, pedestrians, and traffic signs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897880" y="33832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6B35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217920" y="1828800"/>
            <a:ext cx="2514600" cy="3566160"/>
          </a:xfrm>
          <a:prstGeom prst="roundRect">
            <a:avLst>
              <a:gd name="adj" fmla="val 3273"/>
            </a:avLst>
          </a:prstGeom>
          <a:solidFill>
            <a:srgbClr val="132B4D"/>
          </a:solidFill>
          <a:ln w="12700">
            <a:solidFill>
              <a:srgbClr val="22406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018020" y="2194560"/>
            <a:ext cx="914400" cy="914400"/>
          </a:xfrm>
          <a:prstGeom prst="ellipse">
            <a:avLst/>
          </a:prstGeom>
          <a:solidFill>
            <a:srgbClr val="8AB6FF"/>
          </a:solidFill>
          <a:ln/>
        </p:spPr>
      </p:sp>
      <p:pic>
        <p:nvPicPr>
          <p:cNvPr id="18" name="Image 2" descr="icons/ruler_0B1F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6892" y="2313432"/>
            <a:ext cx="676656" cy="6766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55080" y="32918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Depth Estimation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400800" y="384048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distance to every detected object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732520" y="33832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6B35"/>
                </a:solidFill>
              </a:rPr>
              <a:t>▶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9052560" y="1828800"/>
            <a:ext cx="2514600" cy="3566160"/>
          </a:xfrm>
          <a:prstGeom prst="roundRect">
            <a:avLst>
              <a:gd name="adj" fmla="val 3273"/>
            </a:avLst>
          </a:prstGeom>
          <a:solidFill>
            <a:srgbClr val="132B4D"/>
          </a:solidFill>
          <a:ln w="12700">
            <a:solidFill>
              <a:srgbClr val="22406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852660" y="219456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icons/shield_0B1F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1532" y="2313432"/>
            <a:ext cx="676656" cy="6766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89720" y="32918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Safe Driving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9235440" y="384048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plans steering, braking, and speed decisions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594360" y="56235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three stages let an autonomous car build a real-time, accurate, and geometrically correct picture of its environment.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CAR PERCEPTION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9BAAC4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lighting, rain, or fog can degrade camera-only detection accuracy.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must be re-checked periodically as vibration can shift camera position.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 depth estimation is computationally heavy for real-time performance.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 (camera + LiDAR + radar) improves reliability over any single method.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26480" y="1600200"/>
            <a:ext cx="5394960" cy="4206240"/>
          </a:xfrm>
          <a:prstGeom prst="roundRect">
            <a:avLst>
              <a:gd name="adj" fmla="val 1957"/>
            </a:avLst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7830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46520" y="228600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pipeline turns raw frames into detected roads, signs, and pedestrians.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calibration guarantees those detections are geometrically trustworthy.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estimation supplies the missing distance dimension for safe decisions.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form the perception backbone of every self-driving system.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CAR PERCEPTION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240000">
            <a:off x="-914400" y="-548640"/>
            <a:ext cx="13990320" cy="2194560"/>
          </a:xfrm>
          <a:prstGeom prst="rect">
            <a:avLst/>
          </a:prstGeom>
          <a:solidFill>
            <a:srgbClr val="132B4D"/>
          </a:solidFill>
          <a:ln/>
        </p:spPr>
      </p:sp>
      <p:sp>
        <p:nvSpPr>
          <p:cNvPr id="3" name="Shape 1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4" name="Image 0" descr="icons/car_0B1F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3268" y="1549908"/>
            <a:ext cx="1014984" cy="1014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01752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457200" y="3886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Kamali   •   Reg. No. 192524423   •   Guided by Mayuranathan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717</Words>
  <Application>Microsoft Office PowerPoint</Application>
  <PresentationFormat>Widescreen</PresentationFormat>
  <Paragraphs>117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KAMALI S</cp:lastModifiedBy>
  <cp:revision>2</cp:revision>
  <dcterms:created xsi:type="dcterms:W3CDTF">2026-07-21T08:03:57Z</dcterms:created>
  <dcterms:modified xsi:type="dcterms:W3CDTF">2026-07-21T08:08:58Z</dcterms:modified>
</cp:coreProperties>
</file>